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0550" y="498094"/>
            <a:ext cx="836289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EE6C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EE6C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EE6C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45963"/>
            <a:ext cx="9144000" cy="97790"/>
          </a:xfrm>
          <a:custGeom>
            <a:avLst/>
            <a:gdLst/>
            <a:ahLst/>
            <a:cxnLst/>
            <a:rect l="l" t="t" r="r" b="b"/>
            <a:pathLst>
              <a:path w="9144000" h="97789">
                <a:moveTo>
                  <a:pt x="9144000" y="0"/>
                </a:moveTo>
                <a:lnTo>
                  <a:pt x="0" y="0"/>
                </a:lnTo>
                <a:lnTo>
                  <a:pt x="0" y="97536"/>
                </a:lnTo>
                <a:lnTo>
                  <a:pt x="9144000" y="97536"/>
                </a:lnTo>
                <a:lnTo>
                  <a:pt x="9144000" y="0"/>
                </a:lnTo>
                <a:close/>
              </a:path>
            </a:pathLst>
          </a:custGeom>
          <a:solidFill>
            <a:srgbClr val="4DB6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7695" y="1809750"/>
            <a:ext cx="3848608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EE6C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4850" y="1311910"/>
            <a:ext cx="8134299" cy="1918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2831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75" dirty="0"/>
              <a:t>Linear</a:t>
            </a:r>
            <a:r>
              <a:rPr sz="3600" spc="-575" dirty="0"/>
              <a:t> </a:t>
            </a:r>
            <a:r>
              <a:rPr sz="3600" spc="-810" dirty="0"/>
              <a:t>regression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810454" y="1671469"/>
            <a:ext cx="4165549" cy="30087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3074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20" dirty="0"/>
              <a:t>Logistic</a:t>
            </a:r>
            <a:r>
              <a:rPr sz="3600" spc="-525" dirty="0"/>
              <a:t> </a:t>
            </a:r>
            <a:r>
              <a:rPr sz="3600" spc="-810" dirty="0"/>
              <a:t>regression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049779" y="1693164"/>
            <a:ext cx="4861560" cy="32080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3074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20" dirty="0"/>
              <a:t>Logistic</a:t>
            </a:r>
            <a:r>
              <a:rPr sz="3600" spc="-525" dirty="0"/>
              <a:t> </a:t>
            </a:r>
            <a:r>
              <a:rPr sz="3600" spc="-810" dirty="0"/>
              <a:t>regression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914400" y="1266444"/>
            <a:ext cx="7315200" cy="31043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3074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20" dirty="0"/>
              <a:t>Logistic</a:t>
            </a:r>
            <a:r>
              <a:rPr sz="3600" spc="-525" dirty="0"/>
              <a:t> </a:t>
            </a:r>
            <a:r>
              <a:rPr sz="3600" spc="-810" dirty="0"/>
              <a:t>regression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994916" y="1266444"/>
            <a:ext cx="4799076" cy="3569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9201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50" dirty="0"/>
              <a:t>How?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04850" y="1311910"/>
            <a:ext cx="3897629" cy="19189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695D46"/>
                </a:solidFill>
                <a:latin typeface="Arial"/>
                <a:cs typeface="Arial"/>
              </a:rPr>
              <a:t>Define </a:t>
            </a:r>
            <a:r>
              <a:rPr sz="1800" dirty="0">
                <a:solidFill>
                  <a:srgbClr val="695D46"/>
                </a:solidFill>
                <a:latin typeface="Arial"/>
                <a:cs typeface="Arial"/>
              </a:rPr>
              <a:t>the</a:t>
            </a:r>
            <a:r>
              <a:rPr sz="1800" spc="-5" dirty="0">
                <a:solidFill>
                  <a:srgbClr val="695D46"/>
                </a:solidFill>
                <a:latin typeface="Arial"/>
                <a:cs typeface="Arial"/>
              </a:rPr>
              <a:t> problem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695D46"/>
                </a:solidFill>
                <a:latin typeface="Arial"/>
                <a:cs typeface="Arial"/>
              </a:rPr>
              <a:t>Visualize </a:t>
            </a:r>
            <a:r>
              <a:rPr sz="1800" dirty="0">
                <a:solidFill>
                  <a:srgbClr val="695D46"/>
                </a:solidFill>
                <a:latin typeface="Arial"/>
                <a:cs typeface="Arial"/>
              </a:rPr>
              <a:t>the</a:t>
            </a:r>
            <a:r>
              <a:rPr sz="1800" spc="5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695D46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3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695D46"/>
                </a:solidFill>
                <a:latin typeface="Arial"/>
                <a:cs typeface="Arial"/>
              </a:rPr>
              <a:t>Choose </a:t>
            </a:r>
            <a:r>
              <a:rPr sz="1800" dirty="0">
                <a:solidFill>
                  <a:srgbClr val="695D46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695D46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695D46"/>
                </a:solidFill>
                <a:latin typeface="Arial"/>
                <a:cs typeface="Arial"/>
              </a:rPr>
              <a:t>Define loss</a:t>
            </a:r>
            <a:r>
              <a:rPr sz="1800" spc="5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695D46"/>
                </a:solidFill>
                <a:latin typeface="Arial"/>
                <a:cs typeface="Arial"/>
              </a:rPr>
              <a:t>function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695D46"/>
                </a:solidFill>
                <a:latin typeface="Arial"/>
                <a:cs typeface="Arial"/>
              </a:rPr>
              <a:t>Minimize loss</a:t>
            </a:r>
            <a:r>
              <a:rPr sz="1800" spc="15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695D46"/>
                </a:solidFill>
                <a:latin typeface="Arial"/>
                <a:cs typeface="Arial"/>
              </a:rPr>
              <a:t>function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800" spc="-5" dirty="0">
                <a:solidFill>
                  <a:srgbClr val="695D46"/>
                </a:solidFill>
                <a:latin typeface="Arial"/>
                <a:cs typeface="Arial"/>
              </a:rPr>
              <a:t>Use the model </a:t>
            </a:r>
            <a:r>
              <a:rPr sz="1800" dirty="0">
                <a:solidFill>
                  <a:srgbClr val="695D46"/>
                </a:solidFill>
                <a:latin typeface="Arial"/>
                <a:cs typeface="Arial"/>
              </a:rPr>
              <a:t>to </a:t>
            </a:r>
            <a:r>
              <a:rPr sz="1800" spc="-5" dirty="0">
                <a:solidFill>
                  <a:srgbClr val="695D46"/>
                </a:solidFill>
                <a:latin typeface="Arial"/>
                <a:cs typeface="Arial"/>
              </a:rPr>
              <a:t>predict </a:t>
            </a:r>
            <a:r>
              <a:rPr sz="1800" spc="-10" dirty="0">
                <a:solidFill>
                  <a:srgbClr val="695D46"/>
                </a:solidFill>
                <a:latin typeface="Arial"/>
                <a:cs typeface="Arial"/>
              </a:rPr>
              <a:t>new</a:t>
            </a:r>
            <a:r>
              <a:rPr sz="1800" spc="-15" dirty="0">
                <a:solidFill>
                  <a:srgbClr val="695D46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695D46"/>
                </a:solidFill>
                <a:latin typeface="Arial"/>
                <a:cs typeface="Arial"/>
              </a:rPr>
              <a:t>data.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21977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975" dirty="0"/>
              <a:t>XOR</a:t>
            </a:r>
            <a:r>
              <a:rPr sz="3600" spc="-815" dirty="0"/>
              <a:t> </a:t>
            </a:r>
            <a:r>
              <a:rPr sz="3600" spc="-869" dirty="0"/>
              <a:t>problem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358296" y="1835537"/>
            <a:ext cx="3597997" cy="2674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44266" y="1833771"/>
            <a:ext cx="3550708" cy="26343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550" y="498094"/>
            <a:ext cx="43884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120" dirty="0">
                <a:solidFill>
                  <a:srgbClr val="EE6C00"/>
                </a:solidFill>
                <a:latin typeface="Verdana"/>
                <a:cs typeface="Verdana"/>
              </a:rPr>
              <a:t>How </a:t>
            </a:r>
            <a:r>
              <a:rPr sz="3600" b="1" spc="-735" dirty="0">
                <a:solidFill>
                  <a:srgbClr val="EE6C00"/>
                </a:solidFill>
                <a:latin typeface="Verdana"/>
                <a:cs typeface="Verdana"/>
              </a:rPr>
              <a:t>to </a:t>
            </a:r>
            <a:r>
              <a:rPr sz="3600" b="1" spc="-775" dirty="0">
                <a:solidFill>
                  <a:srgbClr val="EE6C00"/>
                </a:solidFill>
                <a:latin typeface="Verdana"/>
                <a:cs typeface="Verdana"/>
              </a:rPr>
              <a:t>solve </a:t>
            </a:r>
            <a:r>
              <a:rPr sz="3600" b="1" spc="-975" dirty="0">
                <a:solidFill>
                  <a:srgbClr val="EE6C00"/>
                </a:solidFill>
                <a:latin typeface="Verdana"/>
                <a:cs typeface="Verdana"/>
              </a:rPr>
              <a:t>XOR</a:t>
            </a:r>
            <a:r>
              <a:rPr sz="3600" b="1" spc="-990" dirty="0">
                <a:solidFill>
                  <a:srgbClr val="EE6C00"/>
                </a:solidFill>
                <a:latin typeface="Verdana"/>
                <a:cs typeface="Verdana"/>
              </a:rPr>
              <a:t> </a:t>
            </a:r>
            <a:r>
              <a:rPr sz="3600" b="1" spc="-869" dirty="0">
                <a:solidFill>
                  <a:srgbClr val="EE6C00"/>
                </a:solidFill>
                <a:latin typeface="Verdana"/>
                <a:cs typeface="Verdana"/>
              </a:rPr>
              <a:t>problem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0550" y="1353058"/>
            <a:ext cx="4450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C3C3C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3C3C3C"/>
                </a:solidFill>
                <a:latin typeface="Arial"/>
                <a:cs typeface="Arial"/>
              </a:rPr>
              <a:t>XOR </a:t>
            </a:r>
            <a:r>
              <a:rPr sz="1800" dirty="0">
                <a:solidFill>
                  <a:srgbClr val="3C3C3C"/>
                </a:solidFill>
                <a:latin typeface="Arial"/>
                <a:cs typeface="Arial"/>
              </a:rPr>
              <a:t>B = (NOT(A </a:t>
            </a:r>
            <a:r>
              <a:rPr sz="1800" spc="-5" dirty="0">
                <a:solidFill>
                  <a:srgbClr val="3C3C3C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3C3C3C"/>
                </a:solidFill>
                <a:latin typeface="Arial"/>
                <a:cs typeface="Arial"/>
              </a:rPr>
              <a:t>B) </a:t>
            </a:r>
            <a:r>
              <a:rPr sz="1800" spc="-5" dirty="0">
                <a:solidFill>
                  <a:srgbClr val="3C3C3C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3C3C3C"/>
                </a:solidFill>
                <a:latin typeface="Arial"/>
                <a:cs typeface="Arial"/>
              </a:rPr>
              <a:t>(A OR</a:t>
            </a:r>
            <a:r>
              <a:rPr sz="1800" spc="-70" dirty="0">
                <a:solidFill>
                  <a:srgbClr val="3C3C3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C3C3C"/>
                </a:solidFill>
                <a:latin typeface="Arial"/>
                <a:cs typeface="Arial"/>
              </a:rPr>
              <a:t>B))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2147316"/>
            <a:ext cx="9143999" cy="15336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550" y="498094"/>
            <a:ext cx="746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55" dirty="0">
                <a:solidFill>
                  <a:srgbClr val="EE6C00"/>
                </a:solidFill>
                <a:latin typeface="Verdana"/>
                <a:cs typeface="Verdana"/>
              </a:rPr>
              <a:t>AND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07954" y="1567913"/>
            <a:ext cx="4102501" cy="30498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710684" y="1565147"/>
            <a:ext cx="3663696" cy="27355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1556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975" dirty="0"/>
              <a:t>NOT</a:t>
            </a:r>
            <a:r>
              <a:rPr sz="3600" spc="-830" dirty="0"/>
              <a:t> </a:t>
            </a:r>
            <a:r>
              <a:rPr sz="3600" spc="-1055" dirty="0"/>
              <a:t>AND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4640579" y="1975104"/>
            <a:ext cx="3924300" cy="27355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8431" y="1975104"/>
            <a:ext cx="3663696" cy="27355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18082" y="1511300"/>
            <a:ext cx="509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60" dirty="0">
                <a:latin typeface="Trebuchet MS"/>
                <a:cs typeface="Trebuchet MS"/>
              </a:rPr>
              <a:t>AND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38113" y="1511300"/>
            <a:ext cx="10458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14" dirty="0">
                <a:latin typeface="Trebuchet MS"/>
                <a:cs typeface="Trebuchet MS"/>
              </a:rPr>
              <a:t>NOT</a:t>
            </a:r>
            <a:r>
              <a:rPr sz="1800" spc="-145" dirty="0">
                <a:latin typeface="Trebuchet MS"/>
                <a:cs typeface="Trebuchet MS"/>
              </a:rPr>
              <a:t> </a:t>
            </a:r>
            <a:r>
              <a:rPr sz="1800" spc="160" dirty="0">
                <a:latin typeface="Trebuchet MS"/>
                <a:cs typeface="Trebuchet MS"/>
              </a:rPr>
              <a:t>AND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550" y="498094"/>
            <a:ext cx="5086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40" dirty="0">
                <a:solidFill>
                  <a:srgbClr val="EE6C00"/>
                </a:solidFill>
                <a:latin typeface="Verdana"/>
                <a:cs typeface="Verdana"/>
              </a:rPr>
              <a:t>OR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3170" y="1662737"/>
            <a:ext cx="3864499" cy="2771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26864" y="1543811"/>
            <a:ext cx="3953255" cy="2982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550" y="498094"/>
            <a:ext cx="749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975" dirty="0">
                <a:solidFill>
                  <a:srgbClr val="EE6C00"/>
                </a:solidFill>
                <a:latin typeface="Verdana"/>
                <a:cs typeface="Verdana"/>
              </a:rPr>
              <a:t>XOR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4671" y="1401902"/>
            <a:ext cx="44602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C3C3C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3C3C3C"/>
                </a:solidFill>
                <a:latin typeface="Arial"/>
                <a:cs typeface="Arial"/>
              </a:rPr>
              <a:t>XOR </a:t>
            </a:r>
            <a:r>
              <a:rPr sz="1800" dirty="0">
                <a:solidFill>
                  <a:srgbClr val="3C3C3C"/>
                </a:solidFill>
                <a:latin typeface="Arial"/>
                <a:cs typeface="Arial"/>
              </a:rPr>
              <a:t>B = (NOT(A </a:t>
            </a:r>
            <a:r>
              <a:rPr sz="1800" spc="-5" dirty="0">
                <a:solidFill>
                  <a:srgbClr val="3C3C3C"/>
                </a:solidFill>
                <a:latin typeface="Arial"/>
                <a:cs typeface="Arial"/>
              </a:rPr>
              <a:t>AND </a:t>
            </a:r>
            <a:r>
              <a:rPr sz="1800" dirty="0">
                <a:solidFill>
                  <a:srgbClr val="3C3C3C"/>
                </a:solidFill>
                <a:latin typeface="Arial"/>
                <a:cs typeface="Arial"/>
              </a:rPr>
              <a:t>B) AND (A OR</a:t>
            </a:r>
            <a:r>
              <a:rPr sz="1800" spc="-25" dirty="0">
                <a:solidFill>
                  <a:srgbClr val="3C3C3C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C3C3C"/>
                </a:solidFill>
                <a:latin typeface="Arial"/>
                <a:cs typeface="Arial"/>
              </a:rPr>
              <a:t>B))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33144" y="1712976"/>
            <a:ext cx="5649467" cy="31775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4368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25" dirty="0"/>
              <a:t>Neural </a:t>
            </a:r>
            <a:r>
              <a:rPr sz="3600" spc="-905" dirty="0"/>
              <a:t>network</a:t>
            </a:r>
            <a:r>
              <a:rPr sz="3600" spc="-585" dirty="0"/>
              <a:t> </a:t>
            </a:r>
            <a:r>
              <a:rPr sz="3600" spc="-735" dirty="0"/>
              <a:t>inspiration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552683" y="1476632"/>
            <a:ext cx="5238464" cy="29201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2704" y="1266442"/>
            <a:ext cx="4639056" cy="3811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25323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25" dirty="0"/>
              <a:t>Neural</a:t>
            </a:r>
            <a:r>
              <a:rPr sz="3600" spc="-535" dirty="0"/>
              <a:t> </a:t>
            </a:r>
            <a:r>
              <a:rPr sz="3600" spc="-905" dirty="0"/>
              <a:t>network</a:t>
            </a:r>
            <a:endParaRPr sz="3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1443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50" dirty="0"/>
              <a:t>Notati</a:t>
            </a:r>
            <a:r>
              <a:rPr sz="3600" spc="-885" dirty="0"/>
              <a:t>o</a:t>
            </a:r>
            <a:r>
              <a:rPr sz="3600" spc="-950" dirty="0"/>
              <a:t>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023872" y="620268"/>
            <a:ext cx="6469380" cy="425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2071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90" dirty="0"/>
              <a:t>Feedforwa</a:t>
            </a:r>
            <a:r>
              <a:rPr sz="3600" spc="-665" dirty="0"/>
              <a:t>r</a:t>
            </a:r>
            <a:r>
              <a:rPr sz="3600" spc="-919" dirty="0"/>
              <a:t>d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786331" y="1883781"/>
            <a:ext cx="7923713" cy="20106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2071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90" dirty="0"/>
              <a:t>Feedforwa</a:t>
            </a:r>
            <a:r>
              <a:rPr sz="3600" spc="-665" dirty="0"/>
              <a:t>r</a:t>
            </a:r>
            <a:r>
              <a:rPr sz="3600" spc="-919" dirty="0"/>
              <a:t>d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714879" y="1764792"/>
            <a:ext cx="5723764" cy="2305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2071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90" dirty="0"/>
              <a:t>Feedforwa</a:t>
            </a:r>
            <a:r>
              <a:rPr sz="3600" spc="-665" dirty="0"/>
              <a:t>r</a:t>
            </a:r>
            <a:r>
              <a:rPr sz="3600" spc="-919" dirty="0"/>
              <a:t>d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088366" y="1427580"/>
            <a:ext cx="4688491" cy="21194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2420" y="3753611"/>
            <a:ext cx="8519160" cy="815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1270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30" dirty="0"/>
              <a:t>Dataset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562462" y="2023959"/>
            <a:ext cx="8024844" cy="1499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3242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55" dirty="0"/>
              <a:t>Matrix</a:t>
            </a:r>
            <a:r>
              <a:rPr sz="3600" spc="-560" dirty="0"/>
              <a:t> </a:t>
            </a:r>
            <a:r>
              <a:rPr sz="3600" spc="-795" dirty="0"/>
              <a:t>presentation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976627" y="1757172"/>
            <a:ext cx="5190744" cy="16291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3242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55" dirty="0"/>
              <a:t>Matrix</a:t>
            </a:r>
            <a:r>
              <a:rPr sz="3600" spc="-560" dirty="0"/>
              <a:t> </a:t>
            </a:r>
            <a:r>
              <a:rPr sz="3600" spc="-795" dirty="0"/>
              <a:t>presentation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368552" y="2008632"/>
            <a:ext cx="6219444" cy="1818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3242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55" dirty="0"/>
              <a:t>Matrix</a:t>
            </a:r>
            <a:r>
              <a:rPr sz="3600" spc="-560" dirty="0"/>
              <a:t> </a:t>
            </a:r>
            <a:r>
              <a:rPr sz="3600" spc="-795" dirty="0"/>
              <a:t>presentation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025395" y="1610867"/>
            <a:ext cx="4572000" cy="24094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3242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55" dirty="0"/>
              <a:t>Matrix</a:t>
            </a:r>
            <a:r>
              <a:rPr sz="3600" spc="-560" dirty="0"/>
              <a:t> </a:t>
            </a:r>
            <a:r>
              <a:rPr sz="3600" spc="-795" dirty="0"/>
              <a:t>presentation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240279" y="1441703"/>
            <a:ext cx="4096512" cy="2532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4389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115" dirty="0"/>
              <a:t>Why </a:t>
            </a:r>
            <a:r>
              <a:rPr sz="3600" spc="-765" dirty="0"/>
              <a:t>non-linear</a:t>
            </a:r>
            <a:r>
              <a:rPr sz="3600" spc="-540" dirty="0"/>
              <a:t> </a:t>
            </a:r>
            <a:r>
              <a:rPr sz="3600" spc="-755" dirty="0"/>
              <a:t>activation?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664463" y="1266444"/>
            <a:ext cx="5535168" cy="3578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70650" y="2536698"/>
            <a:ext cx="21812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100" dirty="0">
                <a:latin typeface="Trebuchet MS"/>
                <a:cs typeface="Trebuchet MS"/>
              </a:rPr>
              <a:t>Suppose </a:t>
            </a:r>
            <a:r>
              <a:rPr sz="1800" spc="40" dirty="0">
                <a:latin typeface="Trebuchet MS"/>
                <a:cs typeface="Trebuchet MS"/>
              </a:rPr>
              <a:t>we </a:t>
            </a:r>
            <a:r>
              <a:rPr sz="1800" spc="90" dirty="0">
                <a:latin typeface="Trebuchet MS"/>
                <a:cs typeface="Trebuchet MS"/>
              </a:rPr>
              <a:t>use  </a:t>
            </a:r>
            <a:r>
              <a:rPr sz="1800" spc="15" dirty="0">
                <a:latin typeface="Trebuchet MS"/>
                <a:cs typeface="Trebuchet MS"/>
              </a:rPr>
              <a:t>linear </a:t>
            </a:r>
            <a:r>
              <a:rPr sz="1800" dirty="0">
                <a:latin typeface="Trebuchet MS"/>
                <a:cs typeface="Trebuchet MS"/>
              </a:rPr>
              <a:t>activation  function, </a:t>
            </a:r>
            <a:r>
              <a:rPr sz="1800" spc="35" dirty="0">
                <a:latin typeface="Trebuchet MS"/>
                <a:cs typeface="Trebuchet MS"/>
              </a:rPr>
              <a:t>what is</a:t>
            </a:r>
            <a:r>
              <a:rPr sz="1800" spc="-345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the  </a:t>
            </a:r>
            <a:r>
              <a:rPr sz="1800" spc="60" dirty="0">
                <a:latin typeface="Trebuchet MS"/>
                <a:cs typeface="Trebuchet MS"/>
              </a:rPr>
              <a:t>output?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1346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80" dirty="0"/>
              <a:t>Sig</a:t>
            </a:r>
            <a:r>
              <a:rPr sz="3600" spc="-1405" dirty="0"/>
              <a:t>m</a:t>
            </a:r>
            <a:r>
              <a:rPr sz="3600" spc="-865" dirty="0"/>
              <a:t>o</a:t>
            </a:r>
            <a:r>
              <a:rPr sz="3600" spc="-425" dirty="0"/>
              <a:t>i</a:t>
            </a:r>
            <a:r>
              <a:rPr sz="3600" spc="-919" dirty="0"/>
              <a:t>d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744778" y="1325788"/>
            <a:ext cx="5340194" cy="35606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8420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94" dirty="0"/>
              <a:t>Tanh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943817" y="1723263"/>
            <a:ext cx="3866462" cy="26098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873496" y="1711319"/>
            <a:ext cx="2687349" cy="8011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766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95" dirty="0"/>
              <a:t>Relu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699746" y="1811494"/>
            <a:ext cx="5746408" cy="2621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98589" y="2514041"/>
            <a:ext cx="13474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0" dirty="0">
                <a:latin typeface="Trebuchet MS"/>
                <a:cs typeface="Trebuchet MS"/>
              </a:rPr>
              <a:t>y </a:t>
            </a:r>
            <a:r>
              <a:rPr sz="1800" spc="85" dirty="0">
                <a:latin typeface="Trebuchet MS"/>
                <a:cs typeface="Trebuchet MS"/>
              </a:rPr>
              <a:t>=</a:t>
            </a:r>
            <a:r>
              <a:rPr sz="1800" spc="-35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max(x, </a:t>
            </a:r>
            <a:r>
              <a:rPr sz="1800" spc="-25" dirty="0">
                <a:latin typeface="Trebuchet MS"/>
                <a:cs typeface="Trebuchet MS"/>
              </a:rPr>
              <a:t>0)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1922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75" dirty="0"/>
              <a:t>Leaky</a:t>
            </a:r>
            <a:r>
              <a:rPr sz="3600" spc="-570" dirty="0"/>
              <a:t> </a:t>
            </a:r>
            <a:r>
              <a:rPr sz="3600" spc="-930" dirty="0"/>
              <a:t>ReLU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240536" y="1424939"/>
            <a:ext cx="6859523" cy="3144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5828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760" dirty="0"/>
              <a:t>Training </a:t>
            </a:r>
            <a:r>
              <a:rPr sz="3600" spc="-775" dirty="0"/>
              <a:t>set/Validation </a:t>
            </a:r>
            <a:r>
              <a:rPr sz="3600" spc="-830" dirty="0"/>
              <a:t>set/Test</a:t>
            </a:r>
            <a:r>
              <a:rPr sz="3600" spc="-894" dirty="0"/>
              <a:t> </a:t>
            </a:r>
            <a:r>
              <a:rPr sz="3600" spc="-775" dirty="0"/>
              <a:t>set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341119" y="1266444"/>
            <a:ext cx="6256785" cy="3733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28073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85" dirty="0"/>
              <a:t>Softmax</a:t>
            </a:r>
            <a:r>
              <a:rPr sz="3600" spc="-555" dirty="0"/>
              <a:t> </a:t>
            </a:r>
            <a:r>
              <a:rPr sz="3600" spc="-770" dirty="0"/>
              <a:t>function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580388" y="1219200"/>
            <a:ext cx="5754623" cy="37703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2928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50" dirty="0"/>
              <a:t>One-hot</a:t>
            </a:r>
            <a:r>
              <a:rPr sz="3600" spc="-555" dirty="0"/>
              <a:t> </a:t>
            </a:r>
            <a:r>
              <a:rPr sz="3600" spc="-844" dirty="0"/>
              <a:t>encoding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710183" y="1266444"/>
            <a:ext cx="3756660" cy="3128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550408" y="1246632"/>
            <a:ext cx="2575560" cy="30373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30156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30" dirty="0"/>
              <a:t>Cross-entropy</a:t>
            </a:r>
            <a:r>
              <a:rPr sz="3600" spc="-570" dirty="0"/>
              <a:t> </a:t>
            </a:r>
            <a:r>
              <a:rPr sz="3600" spc="-745" dirty="0"/>
              <a:t>loss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5383903" y="2254757"/>
            <a:ext cx="2971477" cy="942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9324" y="1293875"/>
            <a:ext cx="2755392" cy="32476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160645" y="3669588"/>
            <a:ext cx="3263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5" dirty="0">
                <a:latin typeface="Trebuchet MS"/>
                <a:cs typeface="Trebuchet MS"/>
              </a:rPr>
              <a:t>Similar </a:t>
            </a:r>
            <a:r>
              <a:rPr sz="1800" spc="20" dirty="0">
                <a:latin typeface="Trebuchet MS"/>
                <a:cs typeface="Trebuchet MS"/>
              </a:rPr>
              <a:t>to</a:t>
            </a:r>
            <a:r>
              <a:rPr sz="1800" spc="-200" dirty="0">
                <a:latin typeface="Trebuchet MS"/>
                <a:cs typeface="Trebuchet MS"/>
              </a:rPr>
              <a:t> </a:t>
            </a:r>
            <a:r>
              <a:rPr sz="1800" spc="40" dirty="0">
                <a:latin typeface="Trebuchet MS"/>
                <a:cs typeface="Trebuchet MS"/>
              </a:rPr>
              <a:t>binary_crossentropy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27597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50" dirty="0"/>
              <a:t>Backpropagation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010155" y="1184147"/>
            <a:ext cx="5788152" cy="38023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0550" y="498094"/>
            <a:ext cx="81406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919" dirty="0">
                <a:solidFill>
                  <a:srgbClr val="EE6C00"/>
                </a:solidFill>
                <a:latin typeface="Verdana"/>
                <a:cs typeface="Verdana"/>
              </a:rPr>
              <a:t>Q&amp;A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42616" y="190500"/>
            <a:ext cx="4572000" cy="457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550" y="498094"/>
            <a:ext cx="1341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850" dirty="0"/>
              <a:t>The</a:t>
            </a:r>
            <a:r>
              <a:rPr sz="3600" spc="-580" dirty="0"/>
              <a:t> </a:t>
            </a:r>
            <a:r>
              <a:rPr sz="3600" spc="-905" dirty="0"/>
              <a:t>end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883407" y="2004060"/>
            <a:ext cx="4572000" cy="1924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154</Words>
  <Application>Microsoft Office PowerPoint</Application>
  <PresentationFormat>On-screen Show (16:9)</PresentationFormat>
  <Paragraphs>47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Trebuchet MS</vt:lpstr>
      <vt:lpstr>Verdana</vt:lpstr>
      <vt:lpstr>Office Theme</vt:lpstr>
      <vt:lpstr>Linear regression</vt:lpstr>
      <vt:lpstr>Logistic regression</vt:lpstr>
      <vt:lpstr>Logistic regression</vt:lpstr>
      <vt:lpstr>Logistic regression</vt:lpstr>
      <vt:lpstr>How?</vt:lpstr>
      <vt:lpstr>XOR problem</vt:lpstr>
      <vt:lpstr>PowerPoint Presentation</vt:lpstr>
      <vt:lpstr>PowerPoint Presentation</vt:lpstr>
      <vt:lpstr>NOT AND</vt:lpstr>
      <vt:lpstr>PowerPoint Presentation</vt:lpstr>
      <vt:lpstr>PowerPoint Presentation</vt:lpstr>
      <vt:lpstr>Neural network inspiration</vt:lpstr>
      <vt:lpstr>Neural network</vt:lpstr>
      <vt:lpstr>Notation</vt:lpstr>
      <vt:lpstr>Feedforward</vt:lpstr>
      <vt:lpstr>Feedforward</vt:lpstr>
      <vt:lpstr>Feedforward</vt:lpstr>
      <vt:lpstr>Dataset</vt:lpstr>
      <vt:lpstr>Matrix presentation</vt:lpstr>
      <vt:lpstr>Matrix presentation</vt:lpstr>
      <vt:lpstr>Matrix presentation</vt:lpstr>
      <vt:lpstr>Matrix presentation</vt:lpstr>
      <vt:lpstr>Why non-linear activation?</vt:lpstr>
      <vt:lpstr>Sigmoid</vt:lpstr>
      <vt:lpstr>Tanh</vt:lpstr>
      <vt:lpstr>Relu</vt:lpstr>
      <vt:lpstr>Leaky ReLU</vt:lpstr>
      <vt:lpstr>Training set/Validation set/Test set</vt:lpstr>
      <vt:lpstr>Softmax function</vt:lpstr>
      <vt:lpstr>One-hot encoding</vt:lpstr>
      <vt:lpstr>Cross-entropy loss</vt:lpstr>
      <vt:lpstr>Backpropagation</vt:lpstr>
      <vt:lpstr>PowerPoint Presentation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</dc:title>
  <cp:lastModifiedBy>huy hoang</cp:lastModifiedBy>
  <cp:revision>1</cp:revision>
  <dcterms:created xsi:type="dcterms:W3CDTF">2022-05-19T03:55:43Z</dcterms:created>
  <dcterms:modified xsi:type="dcterms:W3CDTF">2022-05-19T04:04:21Z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2021-05-21T00:00:00Z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2022-05-19T00:00:00Z</vt:filetime>
  </property>
</Properties>
</file>